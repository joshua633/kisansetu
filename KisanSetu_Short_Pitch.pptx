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594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8FA"/>
                </a:solidFill>
                <a:latin typeface="Aptos"/>
              </a:rPr>
              <a:t>KISANSETU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7406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3CD82"/>
                </a:solidFill>
                <a:latin typeface="Aptos"/>
              </a:rPr>
              <a:t>Offline Community Edge AI Hub
for Indian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8FA"/>
                </a:solidFill>
                <a:latin typeface="Aptos"/>
              </a:rPr>
              <a:t>One Snapdragon-powered local AI hub. Multiple farmers. Existing smartphones.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960120"/>
            <a:ext cx="3474720" cy="123444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960120"/>
            <a:ext cx="64008" cy="1234440"/>
          </a:xfrm>
          <a:prstGeom prst="rect">
            <a:avLst/>
          </a:prstGeom>
          <a:solidFill>
            <a:srgbClr val="4F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112471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THE 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1554480"/>
            <a:ext cx="31089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Move compute to a shared local hub instead of requiring every farmer to own AI hardware or depend on cloud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743200"/>
            <a:ext cx="2011680" cy="1143000"/>
          </a:xfrm>
          <a:prstGeom prst="roundRect">
            <a:avLst/>
          </a:prstGeom>
          <a:solidFill>
            <a:srgbClr val="152A36"/>
          </a:solidFill>
          <a:ln>
            <a:solidFill>
              <a:srgbClr val="43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2971800"/>
            <a:ext cx="1691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8FA"/>
                </a:solidFill>
                <a:latin typeface="Aptos"/>
              </a:rPr>
              <a:t>SNAPDRAGON
AI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960120" cy="548640"/>
          </a:xfrm>
          <a:prstGeom prst="roundRect">
            <a:avLst/>
          </a:prstGeom>
          <a:solidFill>
            <a:srgbClr val="11212D"/>
          </a:solidFill>
          <a:ln>
            <a:solidFill>
              <a:srgbClr val="4F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21214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5F8FA"/>
                </a:solidFill>
                <a:latin typeface="Aptos"/>
              </a:rPr>
              <a:t>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2331720"/>
            <a:ext cx="777240" cy="978408"/>
          </a:xfrm>
          <a:prstGeom prst="line">
            <a:avLst/>
          </a:prstGeom>
          <a:ln w="19050">
            <a:solidFill>
              <a:srgbClr val="4F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03720" y="4160520"/>
            <a:ext cx="960120" cy="548640"/>
          </a:xfrm>
          <a:prstGeom prst="roundRect">
            <a:avLst/>
          </a:prstGeom>
          <a:solidFill>
            <a:srgbClr val="11212D"/>
          </a:solidFill>
          <a:ln>
            <a:solidFill>
              <a:srgbClr val="4F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422452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5F8FA"/>
                </a:solidFill>
                <a:latin typeface="Aptos"/>
              </a:rPr>
              <a:t>📱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863840" y="3310128"/>
            <a:ext cx="777240" cy="1124712"/>
          </a:xfrm>
          <a:prstGeom prst="line">
            <a:avLst/>
          </a:prstGeom>
          <a:ln w="19050">
            <a:solidFill>
              <a:srgbClr val="4F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03720" y="4892040"/>
            <a:ext cx="960120" cy="548640"/>
          </a:xfrm>
          <a:prstGeom prst="roundRect">
            <a:avLst/>
          </a:prstGeom>
          <a:solidFill>
            <a:srgbClr val="11212D"/>
          </a:solidFill>
          <a:ln>
            <a:solidFill>
              <a:srgbClr val="4F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495604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5F8FA"/>
                </a:solidFill>
                <a:latin typeface="Aptos"/>
              </a:rPr>
              <a:t>📱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863840" y="3310128"/>
            <a:ext cx="777240" cy="1856231"/>
          </a:xfrm>
          <a:prstGeom prst="line">
            <a:avLst/>
          </a:prstGeom>
          <a:ln w="19050">
            <a:solidFill>
              <a:srgbClr val="4F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1C3CD"/>
                </a:solidFill>
                <a:latin typeface="Aptos"/>
              </a:rPr>
              <a:t>KisanSetu • Snapdragon AI Lab Build &amp; Present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C3C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C3CD"/>
                </a:solidFill>
                <a:latin typeface="Aptos"/>
              </a:rPr>
              <a:t>Agricultural AI is useful — but access, connectivity and trust are real deployment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008" cy="1828800"/>
          </a:xfrm>
          <a:prstGeom prst="rect">
            <a:avLst/>
          </a:prstGeom>
          <a:solidFill>
            <a:srgbClr val="4F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48840"/>
            <a:ext cx="315468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Farmers may have smartphones without reliable Internet access for cloud AI. KisanSetu keeps the core workflow local.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64008" cy="182880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HARDWARE BURDEN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48840"/>
            <a:ext cx="315468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Putting AI-capable hardware in every farmer's hands can be inefficient in community settings.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F4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19072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RISK OF WRONG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15468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Incorrect diagnosis or unsafe chemical guidance can create financial, agronomic and safety consequences.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D82"/>
                </a:solidFill>
                <a:latin typeface="Aptos"/>
              </a:rPr>
              <a:t>Design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Don't just make AI available. Make it local, shared, explainable and cautious.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1C3CD"/>
                </a:solidFill>
                <a:latin typeface="Aptos"/>
              </a:rPr>
              <a:t>KisanSetu • Snapdragon AI Lab Build &amp; Present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C3C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The Solution: A Shared Local AI Service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C3CD"/>
                </a:solidFill>
                <a:latin typeface="Aptos"/>
              </a:rPr>
              <a:t>Farmers use their existing phones; the Snapdragon hub performs the heavy AI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331720" cy="224028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4008" cy="2240280"/>
          </a:xfrm>
          <a:prstGeom prst="rect">
            <a:avLst/>
          </a:prstGeom>
          <a:solidFill>
            <a:srgbClr val="4F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9339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1 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23160"/>
            <a:ext cx="196596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Phone joins local KisanSetu Wi‑Fi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79" y="2944368"/>
            <a:ext cx="502921" cy="0"/>
          </a:xfrm>
          <a:prstGeom prst="line">
            <a:avLst/>
          </a:prstGeom>
          <a:ln w="19050">
            <a:solidFill>
              <a:srgbClr val="B1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828800"/>
            <a:ext cx="2331720" cy="224028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64008" cy="224028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99339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2 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423160"/>
            <a:ext cx="196596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Camera • Voice • 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2944368"/>
            <a:ext cx="502920" cy="0"/>
          </a:xfrm>
          <a:prstGeom prst="line">
            <a:avLst/>
          </a:prstGeom>
          <a:ln w="19050">
            <a:solidFill>
              <a:srgbClr val="B1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1828800"/>
            <a:ext cx="2331720" cy="224028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828800"/>
            <a:ext cx="64008" cy="2240280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99339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3 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423160"/>
            <a:ext cx="196596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Vision • STT • LLM • RAG • TTS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944368"/>
            <a:ext cx="502920" cy="0"/>
          </a:xfrm>
          <a:prstGeom prst="line">
            <a:avLst/>
          </a:prstGeom>
          <a:ln w="19050">
            <a:solidFill>
              <a:srgbClr val="B1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35440" y="1828800"/>
            <a:ext cx="2331720" cy="224028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64008" cy="2240280"/>
          </a:xfrm>
          <a:prstGeom prst="rect">
            <a:avLst/>
          </a:prstGeom>
          <a:solidFill>
            <a:srgbClr val="A0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199339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4  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423160"/>
            <a:ext cx="196596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Answer + confidence +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177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3CD82"/>
                </a:solidFill>
                <a:latin typeface="Aptos"/>
              </a:rPr>
              <a:t>Multimodal + offline by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983480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5F8FA"/>
                </a:solidFill>
                <a:latin typeface="Aptos"/>
              </a:defRPr>
            </a:pPr>
            <a:r>
              <a:t>• Crop-image triage</a:t>
            </a:r>
          </a:p>
          <a:p>
            <a:pPr>
              <a:spcAft>
                <a:spcPts val="800"/>
              </a:spcAft>
              <a:defRPr sz="1250">
                <a:solidFill>
                  <a:srgbClr val="F5F8FA"/>
                </a:solidFill>
                <a:latin typeface="Aptos"/>
              </a:defRPr>
            </a:pPr>
            <a:r>
              <a:t>• Multilingual voice interaction</a:t>
            </a:r>
          </a:p>
          <a:p>
            <a:pPr>
              <a:spcAft>
                <a:spcPts val="800"/>
              </a:spcAft>
              <a:defRPr sz="1250">
                <a:solidFill>
                  <a:srgbClr val="F5F8FA"/>
                </a:solidFill>
                <a:latin typeface="Aptos"/>
              </a:defRPr>
            </a:pPr>
            <a:r>
              <a:t>• Local LLM + verified agricultural RAG</a:t>
            </a:r>
          </a:p>
          <a:p>
            <a:pPr>
              <a:spcAft>
                <a:spcPts val="800"/>
              </a:spcAft>
              <a:defRPr sz="1250">
                <a:solidFill>
                  <a:srgbClr val="F5F8FA"/>
                </a:solidFill>
                <a:latin typeface="Aptos"/>
              </a:defRPr>
            </a:pPr>
            <a:r>
              <a:t>• Local speech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617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6767"/>
                </a:solidFill>
                <a:latin typeface="Aptos"/>
              </a:rPr>
              <a:t>Safety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965192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A"/>
                </a:solidFill>
                <a:latin typeface="Aptos"/>
              </a:rPr>
              <a:t>Low confidence → clarify
Missing evidence → refuse / escalate
High-risk advice → verified source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1C3CD"/>
                </a:solidFill>
                <a:latin typeface="Aptos"/>
              </a:rPr>
              <a:t>KisanSetu • Snapdragon AI Lab Build &amp; Present 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C3C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Why KisanSetu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C3CD"/>
                </a:solidFill>
                <a:latin typeface="Aptos"/>
              </a:rPr>
              <a:t>The novelty is the deployment architecture — not claiming that individual AI components are new.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1C3CD"/>
                </a:solidFill>
                <a:latin typeface="Aptos"/>
              </a:rPr>
              <a:t>COMMON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Crop disease AI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Multilingual STT/TTS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Local LLM / RAG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Offline AI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Snapdragon NPU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087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D82"/>
                </a:solidFill>
                <a:latin typeface="Aptos"/>
              </a:rPr>
              <a:t>KISANSETU'S ARCHITECTURAL ADDITION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874519"/>
            <a:ext cx="5577840" cy="192024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874519"/>
            <a:ext cx="64008" cy="1920240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2039112"/>
            <a:ext cx="5212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ONE HUB → MANY PHONES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2468879"/>
            <a:ext cx="5212079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A local Snapdragon AI resource is shared by multiple ordinary smartphones through local Wi‑Fi. This turns AI compute into a community service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069080"/>
            <a:ext cx="2651760" cy="123444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4069080"/>
            <a:ext cx="64008" cy="1234440"/>
          </a:xfrm>
          <a:prstGeom prst="rect">
            <a:avLst/>
          </a:prstGeom>
          <a:solidFill>
            <a:srgbClr val="4F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42336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663440"/>
            <a:ext cx="22860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Answers carry source/version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069080"/>
            <a:ext cx="2651760" cy="123444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4069080"/>
            <a:ext cx="64008" cy="1234440"/>
          </a:xfrm>
          <a:prstGeom prst="rect">
            <a:avLst/>
          </a:prstGeom>
          <a:solidFill>
            <a:srgbClr val="F4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42336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4663440"/>
            <a:ext cx="22860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Uncertain or high-risk cases can be refused or escalated.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1C3CD"/>
                </a:solidFill>
                <a:latin typeface="Aptos"/>
              </a:rPr>
              <a:t>KisanSetu • Snapdragon AI Lab Build &amp; Present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C3C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Built Around Snapdragon — and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C3CD"/>
                </a:solidFill>
                <a:latin typeface="Aptos"/>
              </a:rPr>
              <a:t>Snapdragon is treated as a systems dependency, not a branding element.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196596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008" cy="1965960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TARGET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48840"/>
            <a:ext cx="310896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EfficientNet-B0 vision
Whisper-small STT
Qwen2.5-3B-Instruct INT4
ONNX Runtime + QNN Execution Provider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196596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64008" cy="1965960"/>
          </a:xfrm>
          <a:prstGeom prst="rect">
            <a:avLst/>
          </a:prstGeom>
          <a:solidFill>
            <a:srgbClr val="4F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WHAT WE WILL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48840"/>
            <a:ext cx="310896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Actual QNN/NPU execution
CPU vs NPU comparison
Latency, RAM and power
3–5 client concurrency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196596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64008" cy="196596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190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OFFLINE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10896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Disable WAN → connect multiple phones → run image, voice and grounded text workflows → verify no cloud endpoint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AD52"/>
                </a:solidFill>
                <a:latin typeface="Aptos"/>
              </a:rPr>
              <a:t>Important: performance figures are targets until measured on the exact Snapdragon device.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A"/>
                </a:solidFill>
                <a:latin typeface="Aptos"/>
              </a:rPr>
              <a:t>The submission standard is evidence: profiling logs, benchmark data, demo video, field metrics and reproducible test artifacts.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1C3CD"/>
                </a:solidFill>
                <a:latin typeface="Aptos"/>
              </a:rPr>
              <a:t>KisanSetu • Snapdragon AI Lab Build &amp; Present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C3C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A"/>
                </a:solidFill>
                <a:latin typeface="Aptos"/>
              </a:rPr>
              <a:t>KISANSETU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43CD82"/>
                </a:solidFill>
                <a:latin typeface="Aptos"/>
              </a:rPr>
              <a:t>AI that stays useful when the Internet doesn't.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1C3CD"/>
                </a:solidFill>
                <a:latin typeface="Aptos"/>
              </a:rPr>
              <a:t>Our pitch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561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8FA"/>
                </a:solidFill>
                <a:latin typeface="Aptos"/>
              </a:rPr>
              <a:t>One local Snapdragon AI hub can provide multimodal agricultural assistance to multiple farmers through the smartphones they already have — with offline operation, evidence-aware answers and safety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43400"/>
            <a:ext cx="3063240" cy="132588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343400"/>
            <a:ext cx="64008" cy="1325880"/>
          </a:xfrm>
          <a:prstGeom prst="rect">
            <a:avLst/>
          </a:prstGeom>
          <a:solidFill>
            <a:srgbClr val="4F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50799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937760"/>
            <a:ext cx="269748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Works without WAN for core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343400"/>
            <a:ext cx="3063240" cy="132588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4343400"/>
            <a:ext cx="64008" cy="1325880"/>
          </a:xfrm>
          <a:prstGeom prst="rect">
            <a:avLst/>
          </a:prstGeom>
          <a:solidFill>
            <a:srgbClr val="43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450799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4937760"/>
            <a:ext cx="269748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Designed for multi-phone community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343400"/>
            <a:ext cx="3063240" cy="1325880"/>
          </a:xfrm>
          <a:prstGeom prst="roundRect">
            <a:avLst/>
          </a:prstGeom>
          <a:solidFill>
            <a:srgbClr val="11212D"/>
          </a:solidFill>
          <a:ln>
            <a:solidFill>
              <a:srgbClr val="274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4343400"/>
            <a:ext cx="64008" cy="1325880"/>
          </a:xfrm>
          <a:prstGeom prst="rect">
            <a:avLst/>
          </a:prstGeom>
          <a:solidFill>
            <a:srgbClr val="F4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450799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RESPONSIBLE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4937760"/>
            <a:ext cx="269748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1C3CD"/>
                </a:solidFill>
                <a:latin typeface="Aptos"/>
              </a:rPr>
              <a:t>Confidence + provenance +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8932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1C3CD"/>
                </a:solidFill>
                <a:latin typeface="Aptos"/>
              </a:rPr>
              <a:t>Next step: build → benchmark → field-test → demonstrate.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1C3CD"/>
                </a:solidFill>
                <a:latin typeface="Aptos"/>
              </a:rPr>
              <a:t>KisanSetu • Snapdragon AI Lab Build &amp; Present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1C3C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